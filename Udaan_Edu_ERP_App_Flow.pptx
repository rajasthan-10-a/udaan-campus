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32520" y="731520"/>
            <a:ext cx="2697480" cy="269748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078992"/>
            <a:ext cx="2697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1080" y="352044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UDAAN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38862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EDU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Udaan Edu ERP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DEFF2"/>
                </a:solidFill>
                <a:latin typeface="Aptos"/>
              </a:rPr>
              <a:t>Complete App Flow &amp; Feature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School management, attendance, academics, communication and learning in one connected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DEFF2"/>
                </a:solidFill>
                <a:latin typeface="Aptos"/>
              </a:rPr>
              <a:t>Prepared for product walkthrough and stakeholder handover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15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1. Product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A role-based Flutter application backed by Firebase, with Supabase media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1460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82296" cy="182880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73351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One app, many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84831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Super Manager / Manager
Teacher
Parent
Student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51460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508760"/>
            <a:ext cx="82296" cy="18288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673351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Academic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84831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Attendance, results, exams, homework, class and section management.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508760"/>
            <a:ext cx="251460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1508760"/>
            <a:ext cx="82296" cy="182880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73351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084831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Notice board, absent-student follow-up, calling logs, WhatsApp and SMS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508760"/>
            <a:ext cx="2697480" cy="1828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23960" y="1508760"/>
            <a:ext cx="82296" cy="18288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673351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Content and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084831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Learning courses, YouTube links, MP4 uploads, paper generator and PDF sharing.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Primary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34840"/>
            <a:ext cx="1417320" cy="658368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590288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7128" y="459028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32888" y="4434840"/>
            <a:ext cx="1417320" cy="65836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4590288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Role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14216" y="459028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9976" y="4434840"/>
            <a:ext cx="1417320" cy="65836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4590288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Select 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1304" y="459028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7064" y="4434840"/>
            <a:ext cx="1417320" cy="65836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4590288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Perform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459028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74152" y="4434840"/>
            <a:ext cx="1417320" cy="65836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7304" y="4590288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Save to cloud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459028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21240" y="4434840"/>
            <a:ext cx="1417320" cy="658368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94392" y="4590288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View / share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2. Login, identity and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Authentication determines the dashboard and the modules a user can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82296" cy="141732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8191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Firebase Auth handles sign-in. The app waits for auth state before opening the home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82296" cy="141732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8191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Role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93392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User role values include teacher, manager, super_manager, parent and student. Each role receives a focused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82296" cy="141732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8191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93392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Super Manager can enable or disable dashboard modules such as attendance, results, notice board, learning, paper, messages and timetable.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Access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Empty or missing accessPermissions remains backward-compatible with full access.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Populated permissions filter the visible cards and actions.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Teacher class access is represented through assignedClassSections such as 10-A.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Firestore rules provide server-side protection in addition to UI visibility.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3. Role-based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The dashboard is the starting point for every user persona.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2743200" cy="4114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82296" cy="411480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3619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Super Manager /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23317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Attendance
Result entry
Classes &amp; sections
User management
Notice Board
Learning
Paper
QR Student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371600"/>
            <a:ext cx="2743200" cy="4114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1371600"/>
            <a:ext cx="82296" cy="411480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53619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947672"/>
            <a:ext cx="233172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Assigned-class attendance
Attendance history
Result entry
Homework
Notice Board
Learning
Paper
Class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371600"/>
            <a:ext cx="2240280" cy="4114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1371600"/>
            <a:ext cx="82296" cy="411480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5361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947672"/>
            <a:ext cx="18288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Child attendance
Results / marksheet
Homework
Notice Board
Learning
Messages and updates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71600"/>
            <a:ext cx="2423160" cy="41148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1371600"/>
            <a:ext cx="82296" cy="411480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536192"/>
            <a:ext cx="2011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Student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47672"/>
            <a:ext cx="2011679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Schedule
Results
Learning
Homework
Notice Board
Personal academic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4. Attendance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Attendance can be taken by class/section or through QR scanning.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42316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664208"/>
            <a:ext cx="475488" cy="47548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746504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Choose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Select class, section and date.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1488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1463040"/>
            <a:ext cx="242316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1664208"/>
            <a:ext cx="475488" cy="47548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1746504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Mark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33172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Present / absent per student.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21488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463040"/>
            <a:ext cx="242316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9672" y="1664208"/>
            <a:ext cx="475488" cy="47548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746504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Save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3172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Attendance write is kept successful even if audit logging has an issue.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214884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463040"/>
            <a:ext cx="2423160" cy="205740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54312" y="1664208"/>
            <a:ext cx="475488" cy="47548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1746504"/>
            <a:ext cx="47548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1719072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History, class report, monthly report and absent students.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77639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Additional attendance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QR attendance scanner: scan a student's QR token and mark presence quickly.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QR Student Management: search students, regenerate QR tokens and open ID cards.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Absent Students: open call, WhatsApp or SMS actions and log every attempt.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Reports: class summary, student history and monthly percentage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5. Result and marksheet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Per-student marks are stored by exam type and reflected in the marksheet.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Exam choices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874519" cy="36576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First Unit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783080"/>
            <a:ext cx="1874519" cy="36576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874519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Second Unit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783080"/>
            <a:ext cx="1874519" cy="36576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874519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Third Unit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31720"/>
            <a:ext cx="1874519" cy="36576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23160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Half Yearly Exam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331720"/>
            <a:ext cx="1874519" cy="36576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423160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Yearly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Subject entry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498348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82296" cy="141732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6791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Numeric subjects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79392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English, Hindi, Mathematics, Science and Social Science.
Unit tests: each subject out of 10.
Half-yearly / yearly: each subject out of 80.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703320"/>
            <a:ext cx="4983480" cy="14173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80760" y="3703320"/>
            <a:ext cx="82296" cy="141732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86791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Grade subjects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79392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Sanskrit, Computer and SUPW use grade boxes instead of numeric marks.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B697A"/>
                </a:solidFill>
                <a:latin typeface="Aptos"/>
              </a:rPr>
              <a:t>Students are loaded after class-section selection; existing marks are prefilled and save back to the student's marksheets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6. Classes, sections and user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Administrative setup connects teachers, classes and access permissions.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383280" cy="19202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82296" cy="192024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276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Create class / section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Manager can create class records and sections. Cards use a responsive grid so the layout adapts to screen width.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19202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82296" cy="192024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276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Assign class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39112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Teacher list is loaded from the users collection. Assignment updates the class record and the teacher's assignedClassSections.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383280" cy="19202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463040"/>
            <a:ext cx="82296" cy="192024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276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Manage user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39112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Open User Management, select a user and toggle module permissions. The dashboard responds to those permissions.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Operational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10149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 class teacher sees the classes assigned to them.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Manager and Super Manager can work across all classes where allowed.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 same user records drive assignment and permission management.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The earlier blank-name RangeError was handled with safe initials.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7. Notice Board and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School communication and learning content are available from the role dashboards.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66360" cy="32461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82296" cy="324612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Notice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475488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Manager, Super Manager and teachers can publish notices.
Supports title, message, category such as meeting/exam/vacation/event, image URL and attachment/PDF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5166360" cy="324612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82296" cy="324612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819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93392"/>
            <a:ext cx="475488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Managers can create courses with title and description, add a YouTube link, or upload an MP4 video.
Videos use Supabase storage bucket learning-videos; course metadata is stored in Firestore.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3B73"/>
                </a:solidFill>
                <a:latin typeface="Aptos"/>
              </a:rPr>
              <a:t>Audience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38928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Learning access is designed for registered users across student, teacher, admin/manager and Super Manager roles, subject to configured permissions.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8. Paper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Create a shareable, watermarked question paper from pasted content or an attached PDF/image.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423160" cy="21488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3B73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3172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1F2937"/>
                </a:solidFill>
                <a:latin typeface="Aptos"/>
              </a:rPr>
              <a:t>Title, total marks, difficulty and source text or attachment.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3317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508760"/>
            <a:ext cx="2423160" cy="21488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3B73"/>
                </a:solidFill>
                <a:latin typeface="Aptos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33172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1F2937"/>
                </a:solidFill>
                <a:latin typeface="Aptos"/>
              </a:rPr>
              <a:t>Objective, fill in the blanks, short answer and long answer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3317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1508760"/>
            <a:ext cx="2423160" cy="21488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3B73"/>
                </a:solidFill>
                <a:latin typeface="Aptos"/>
              </a:rPr>
              <a:t>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33172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1F2937"/>
                </a:solidFill>
                <a:latin typeface="Aptos"/>
              </a:rPr>
              <a:t>Marks are allocated until the requested total is reached.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3317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97A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3" y="1508760"/>
            <a:ext cx="2423160" cy="214884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3" y="175564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3B73"/>
                </a:solidFill>
                <a:latin typeface="Aptos"/>
              </a:rPr>
              <a:t>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1" y="233172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0">
                <a:solidFill>
                  <a:srgbClr val="1F2937"/>
                </a:solidFill>
                <a:latin typeface="Aptos"/>
              </a:rPr>
              <a:t>Watermarked PDF is generated in a temporary file and shared from the device.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Important current 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90288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Pasted text is split into content seeds for deterministic question generation.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Attached PDF/image is accepted and represented by a fallback prompt; OCR/AI extraction is not yet implemented.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PDF includes Udaan Academy heading, total marks, difficulty and diagonal watermark.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Share flow uses the device share sheet.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9. Student registration, QR and parent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The QR workflow connects admission data, ID cards, attendance and communication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Manual student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Name, father/mother, mobile, class-section, S.R. number, roll number and date of birth.</a:t>
            </a:r>
          </a:p>
          <a:p>
            <a:pPr>
              <a:spcAft>
                <a:spcPts val="5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DOB in words, RTE yes/no, conditional fees, father occupation and active status.</a:t>
            </a:r>
          </a:p>
          <a:p>
            <a:pPr>
              <a:spcAft>
                <a:spcPts val="5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Optional photo upload and automatic QR token provisioning.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ID card and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983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ID card shows QR, student name, father name, class, school and mobile.</a:t>
            </a:r>
          </a:p>
          <a:p>
            <a:pPr>
              <a:spcAft>
                <a:spcPts val="5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Print and share actions are available.</a:t>
            </a:r>
          </a:p>
          <a:p>
            <a:pPr>
              <a:spcAft>
                <a:spcPts val="5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Call, WhatsApp and SMS launch external apps and log the attempt in calling_logs.</a:t>
            </a:r>
          </a:p>
          <a:p>
            <a:pPr>
              <a:spcAft>
                <a:spcPts val="5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Voice-note recording/upload support is available for call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731520"/>
          </a:xfrm>
          <a:prstGeom prst="roundRect">
            <a:avLst/>
          </a:prstGeom>
          <a:solidFill>
            <a:srgbClr val="E8F8F6"/>
          </a:solidFill>
          <a:ln>
            <a:solidFill>
              <a:srgbClr val="E8F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714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3975D"/>
                </a:solidFill>
                <a:latin typeface="Aptos"/>
              </a:rPr>
              <a:t>Scan QR → student identified → attendance marked → absent follow-up history remains traceable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10.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Current implementation and data responsibilities.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196596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82296" cy="1965960"/>
          </a:xfrm>
          <a:prstGeom prst="roundRect">
            <a:avLst/>
          </a:prstGeom>
          <a:solidFill>
            <a:srgbClr val="2669BE"/>
          </a:solidFill>
          <a:ln>
            <a:solidFill>
              <a:srgbClr val="26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Flutter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29260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Material 3 UI, Provider auth state, role-based routes and responsive dashboard cards.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96596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82296" cy="1965960"/>
          </a:xfrm>
          <a:prstGeom prst="round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Firebase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93392"/>
            <a:ext cx="29260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Firebase Auth for identity.
Cloud Firestore for users, students, classes, attendance, results, notices, learning metadata and logs.
Firebase rules for authorization.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37560" cy="196596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82296" cy="196596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93392"/>
            <a:ext cx="2926079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Optional initialized client for media storage. Learning MP4 uploads use the learning-videos bucket; student photos use student-photos.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Core data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8"/>
            <a:ext cx="10058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users, students, classes and student_qr_tokens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attendance records, calling_logs and audit logs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marksheets embedded per student; tests and test results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notifications, learning_courses and homework submissions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11. Validation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The current project has been built and exercised on an Android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82296" cy="1508760"/>
          </a:xfrm>
          <a:prstGeom prst="roundRect">
            <a:avLst/>
          </a:prstGeom>
          <a:solidFill>
            <a:srgbClr val="23975D"/>
          </a:solidFill>
          <a:ln>
            <a:solidFill>
              <a:srgbClr val="239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2926079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flutter clean completed
flutter pub get completed
Debug APK build succeeded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82296" cy="1508760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Device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93392"/>
            <a:ext cx="2926079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ADB device detected: V2251
APK installed successfully
App launched successfully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417320"/>
            <a:ext cx="3337560" cy="1508760"/>
          </a:xfrm>
          <a:prstGeom prst="roundRect">
            <a:avLst/>
          </a:prstGeom>
          <a:solidFill>
            <a:srgbClr val="F4F8FC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82296" cy="1508760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819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93392"/>
            <a:ext cx="2926079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No Flutter/Dart fatal crash observed during launch. Existing Android / Google Play Services warnings were logged.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3B73"/>
                </a:solidFill>
                <a:latin typeface="Aptos"/>
              </a:rPr>
              <a:t>Known warnings / operational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Kotlin Gradle Plugin migration warning from the current Flutter Android project.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Java 8 source/target deprecation warnings from dependencies.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Some Google Play Services DEVELOPER_ERROR and Android rendering warnings on the test phone.</a:t>
            </a:r>
          </a:p>
          <a:p>
            <a:pPr>
              <a:spcAft>
                <a:spcPts val="5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Production deployment still requires verifying Firebase rules and Supabase environment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3B73"/>
                </a:solidFill>
                <a:latin typeface="Aptos"/>
              </a:rPr>
              <a:t>12. 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B697A"/>
                </a:solidFill>
                <a:latin typeface="Aptos"/>
              </a:rPr>
              <a:t>Prioritized improvements for production readiness.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EA5A8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B697A"/>
                </a:solidFill>
                <a:latin typeface="Aptos"/>
              </a:rPr>
              <a:t>Udaan Edu ERP  |  Developed by Udaan Academy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58368" cy="658368"/>
          </a:xfrm>
          <a:prstGeom prst="roundRect">
            <a:avLst/>
          </a:prstGeom>
          <a:solidFill>
            <a:srgbClr val="BF4141"/>
          </a:solidFill>
          <a:ln>
            <a:solidFill>
              <a:srgbClr val="B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371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Deploy and verify backend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09928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Deploy Firestore rules, verify Firebase project, Supabase URL/key, storage bucket policies and production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658368" cy="658368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14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Complete paper OCR / AI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852928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Read attached PDF/image content instead of the current fallback prompt; add a controlled extraction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11880"/>
            <a:ext cx="658368" cy="658368"/>
          </a:xfrm>
          <a:prstGeom prst="roundRect">
            <a:avLst/>
          </a:prstGeom>
          <a:solidFill>
            <a:srgbClr val="F59242"/>
          </a:solidFill>
          <a:ln>
            <a:solidFill>
              <a:srgbClr val="F59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1304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57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End-to-end role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95928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Test each role with real Firestore data: attendance, result save, permissions, notices, learning and calling logs.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658368" cy="658368"/>
          </a:xfrm>
          <a:prstGeom prst="round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5604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00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3B73"/>
                </a:solidFill>
                <a:latin typeface="Aptos"/>
              </a:rPr>
              <a:t>Release 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38928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Migrate Android Kotlin setup, add crash monitoring, validate launcher icon cache behavior and prepare signed release builds.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73"/>
          </a:solidFill>
          <a:ln>
            <a:solidFill>
              <a:srgbClr val="12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EA5A8"/>
          </a:solidFill>
          <a:ln>
            <a:solidFill>
              <a:srgbClr val="0EA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Udaan Edu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7589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CDEFF2"/>
                </a:solidFill>
                <a:latin typeface="Aptos"/>
              </a:rPr>
              <a:t>One connected platform for school operations, academics and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7091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DEFF2"/>
                </a:solidFill>
                <a:latin typeface="Aptos"/>
              </a:rPr>
              <a:t>Developed by Udaan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8803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Product walkthrough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375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